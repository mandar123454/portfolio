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7" r:id="rId5"/>
    <p:sldId id="267" r:id="rId6"/>
    <p:sldId id="269" r:id="rId7"/>
    <p:sldId id="270" r:id="rId8"/>
    <p:sldId id="259" r:id="rId9"/>
    <p:sldId id="261" r:id="rId10"/>
    <p:sldId id="262" r:id="rId11"/>
    <p:sldId id="263" r:id="rId12"/>
    <p:sldId id="265"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5" pos="383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p:scale>
          <a:sx n="80" d="100"/>
          <a:sy n="80" d="100"/>
        </p:scale>
        <p:origin x="-300" y="-30"/>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4/14/2026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4/14/2026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A5BD7-F043-4D1B-AA17-CD412FC534DE}" type="slidenum">
              <a:rPr lang="en-US" smtClean="0"/>
              <a:t>4</a:t>
            </a:fld>
            <a:endParaRPr lang="en-US"/>
          </a:p>
        </p:txBody>
      </p:sp>
    </p:spTree>
    <p:extLst>
      <p:ext uri="{BB962C8B-B14F-4D97-AF65-F5344CB8AC3E}">
        <p14:creationId xmlns:p14="http://schemas.microsoft.com/office/powerpoint/2010/main" val="4117229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4/14/2026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4/14/2026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smtClean="0"/>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4/14/2026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4/14/2026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4/14/2026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4/14/2026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4/14/2026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4/14/2026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smtClean="0"/>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4/14/2026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4/14/2026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4/14/2026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4/14/2026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1412" y="914400"/>
            <a:ext cx="9829800" cy="4038600"/>
          </a:xfrm>
        </p:spPr>
        <p:txBody>
          <a:bodyPr>
            <a:normAutofit/>
          </a:bodyPr>
          <a:lstStyle/>
          <a:p>
            <a:r>
              <a:rPr lang="en-US" b="1" dirty="0" smtClean="0">
                <a:solidFill>
                  <a:schemeClr val="bg2">
                    <a:lumMod val="60000"/>
                    <a:lumOff val="40000"/>
                  </a:schemeClr>
                </a:solidFill>
                <a:latin typeface="Arial" panose="020B0604020202020204" pitchFamily="34" charset="0"/>
                <a:cs typeface="Arial" panose="020B0604020202020204" pitchFamily="34" charset="0"/>
              </a:rPr>
              <a:t>Empowering </a:t>
            </a:r>
            <a:r>
              <a:rPr lang="en-US" b="1" dirty="0">
                <a:solidFill>
                  <a:schemeClr val="bg2">
                    <a:lumMod val="60000"/>
                    <a:lumOff val="40000"/>
                  </a:schemeClr>
                </a:solidFill>
                <a:latin typeface="Arial" panose="020B0604020202020204" pitchFamily="34" charset="0"/>
                <a:cs typeface="Arial" panose="020B0604020202020204" pitchFamily="34" charset="0"/>
              </a:rPr>
              <a:t>Rural Students with Basic Computer Knowledge</a:t>
            </a:r>
            <a:r>
              <a:rPr lang="en-US" b="1" dirty="0" smtClean="0">
                <a:solidFill>
                  <a:schemeClr val="bg2">
                    <a:lumMod val="60000"/>
                    <a:lumOff val="40000"/>
                  </a:schemeClr>
                </a:solidFill>
                <a:latin typeface="Arial" panose="020B0604020202020204" pitchFamily="34" charset="0"/>
                <a:cs typeface="Arial" panose="020B0604020202020204" pitchFamily="34" charset="0"/>
              </a:rPr>
              <a:t>:</a:t>
            </a:r>
            <a:br>
              <a:rPr lang="en-US" b="1" dirty="0" smtClean="0">
                <a:solidFill>
                  <a:schemeClr val="bg2">
                    <a:lumMod val="60000"/>
                    <a:lumOff val="40000"/>
                  </a:schemeClr>
                </a:solidFill>
                <a:latin typeface="Arial" panose="020B0604020202020204" pitchFamily="34" charset="0"/>
                <a:cs typeface="Arial" panose="020B0604020202020204" pitchFamily="34" charset="0"/>
              </a:rPr>
            </a:br>
            <a:r>
              <a:rPr lang="en-US" b="1" dirty="0" smtClean="0">
                <a:solidFill>
                  <a:schemeClr val="bg2">
                    <a:lumMod val="60000"/>
                    <a:lumOff val="40000"/>
                  </a:schemeClr>
                </a:solidFill>
                <a:latin typeface="Arial" panose="020B0604020202020204" pitchFamily="34" charset="0"/>
                <a:cs typeface="Arial" panose="020B0604020202020204" pitchFamily="34" charset="0"/>
              </a:rPr>
              <a:t>A </a:t>
            </a:r>
            <a:r>
              <a:rPr lang="en-US" b="1" dirty="0">
                <a:solidFill>
                  <a:schemeClr val="bg2">
                    <a:lumMod val="60000"/>
                    <a:lumOff val="40000"/>
                  </a:schemeClr>
                </a:solidFill>
                <a:latin typeface="Arial" panose="020B0604020202020204" pitchFamily="34" charset="0"/>
                <a:cs typeface="Arial" panose="020B0604020202020204" pitchFamily="34" charset="0"/>
              </a:rPr>
              <a:t>Community Engagement Initiative at </a:t>
            </a:r>
            <a:r>
              <a:rPr lang="en-US" b="1" dirty="0" err="1">
                <a:solidFill>
                  <a:schemeClr val="bg2">
                    <a:lumMod val="60000"/>
                    <a:lumOff val="40000"/>
                  </a:schemeClr>
                </a:solidFill>
                <a:latin typeface="Arial" panose="020B0604020202020204" pitchFamily="34" charset="0"/>
                <a:cs typeface="Arial" panose="020B0604020202020204" pitchFamily="34" charset="0"/>
              </a:rPr>
              <a:t>Waje</a:t>
            </a:r>
            <a:r>
              <a:rPr lang="en-US" b="1" dirty="0">
                <a:solidFill>
                  <a:schemeClr val="bg2">
                    <a:lumMod val="60000"/>
                    <a:lumOff val="40000"/>
                  </a:schemeClr>
                </a:solidFill>
                <a:latin typeface="Arial" panose="020B0604020202020204" pitchFamily="34" charset="0"/>
                <a:cs typeface="Arial" panose="020B0604020202020204" pitchFamily="34" charset="0"/>
              </a:rPr>
              <a:t> High </a:t>
            </a:r>
            <a:r>
              <a:rPr lang="en-US" b="1" dirty="0" smtClean="0">
                <a:solidFill>
                  <a:schemeClr val="bg2">
                    <a:lumMod val="60000"/>
                    <a:lumOff val="40000"/>
                  </a:schemeClr>
                </a:solidFill>
                <a:latin typeface="Arial" panose="020B0604020202020204" pitchFamily="34" charset="0"/>
                <a:cs typeface="Arial" panose="020B0604020202020204" pitchFamily="34" charset="0"/>
              </a:rPr>
              <a:t>School</a:t>
            </a:r>
            <a:endParaRPr lang="en-US" b="1" dirty="0">
              <a:solidFill>
                <a:schemeClr val="bg2">
                  <a:lumMod val="60000"/>
                  <a:lumOff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18883" y="152400"/>
            <a:ext cx="10360501" cy="1223963"/>
          </a:xfrm>
        </p:spPr>
        <p:txBody>
          <a:bodyPr/>
          <a:lstStyle/>
          <a:p>
            <a:r>
              <a:rPr lang="en-US" sz="4800" b="1" dirty="0" smtClean="0">
                <a:latin typeface="Arial" panose="020B0604020202020204" pitchFamily="34" charset="0"/>
                <a:cs typeface="Arial" panose="020B0604020202020204" pitchFamily="34" charset="0"/>
              </a:rPr>
              <a:t>Introduction</a:t>
            </a:r>
            <a:endParaRPr lang="en-US" sz="4800" b="1" dirty="0">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1217295" y="1676400"/>
            <a:ext cx="9601517" cy="4800600"/>
          </a:xfrm>
        </p:spPr>
        <p:txBody>
          <a:bodyPr>
            <a:noAutofit/>
          </a:bodyPr>
          <a:lstStyle/>
          <a:p>
            <a:r>
              <a:rPr lang="en-US" sz="2100" dirty="0">
                <a:latin typeface="Arial" panose="020B0604020202020204" pitchFamily="34" charset="0"/>
                <a:cs typeface="Arial" panose="020B0604020202020204" pitchFamily="34" charset="0"/>
              </a:rPr>
              <a:t>As part of our Community Engagement and Service Program, a group of nine students from </a:t>
            </a:r>
            <a:r>
              <a:rPr lang="en-US" sz="2100" b="1" dirty="0">
                <a:latin typeface="Arial" panose="020B0604020202020204" pitchFamily="34" charset="0"/>
                <a:cs typeface="Arial" panose="020B0604020202020204" pitchFamily="34" charset="0"/>
              </a:rPr>
              <a:t>CKT College</a:t>
            </a:r>
            <a:r>
              <a:rPr lang="en-US" sz="2100" dirty="0">
                <a:latin typeface="Arial" panose="020B0604020202020204" pitchFamily="34" charset="0"/>
                <a:cs typeface="Arial" panose="020B0604020202020204" pitchFamily="34" charset="0"/>
              </a:rPr>
              <a:t> conducted a three-day teaching initiative at </a:t>
            </a:r>
            <a:r>
              <a:rPr lang="en-US" sz="2100" b="1" dirty="0" err="1">
                <a:latin typeface="Arial" panose="020B0604020202020204" pitchFamily="34" charset="0"/>
                <a:cs typeface="Arial" panose="020B0604020202020204" pitchFamily="34" charset="0"/>
              </a:rPr>
              <a:t>Waje</a:t>
            </a:r>
            <a:r>
              <a:rPr lang="en-US" sz="2100" b="1" dirty="0">
                <a:latin typeface="Arial" panose="020B0604020202020204" pitchFamily="34" charset="0"/>
                <a:cs typeface="Arial" panose="020B0604020202020204" pitchFamily="34" charset="0"/>
              </a:rPr>
              <a:t> High School and Junior College, </a:t>
            </a:r>
            <a:r>
              <a:rPr lang="en-US" sz="2100" b="1" dirty="0" err="1">
                <a:latin typeface="Arial" panose="020B0604020202020204" pitchFamily="34" charset="0"/>
                <a:cs typeface="Arial" panose="020B0604020202020204" pitchFamily="34" charset="0"/>
              </a:rPr>
              <a:t>Waje</a:t>
            </a:r>
            <a:r>
              <a:rPr lang="en-US" sz="2100" dirty="0">
                <a:latin typeface="Arial" panose="020B0604020202020204" pitchFamily="34" charset="0"/>
                <a:cs typeface="Arial" panose="020B0604020202020204" pitchFamily="34" charset="0"/>
              </a:rPr>
              <a:t>. The aim was to enhance digital literacy among rural students by introducing them to the basics of computer operations, including essential hardware and software concepts. The initiative was designed for students from </a:t>
            </a:r>
            <a:r>
              <a:rPr lang="en-US" sz="2100" b="1" dirty="0">
                <a:latin typeface="Arial" panose="020B0604020202020204" pitchFamily="34" charset="0"/>
                <a:cs typeface="Arial" panose="020B0604020202020204" pitchFamily="34" charset="0"/>
              </a:rPr>
              <a:t>5th to 9th standard</a:t>
            </a:r>
            <a:r>
              <a:rPr lang="en-US" sz="2100" dirty="0">
                <a:latin typeface="Arial" panose="020B0604020202020204" pitchFamily="34" charset="0"/>
                <a:cs typeface="Arial" panose="020B0604020202020204" pitchFamily="34" charset="0"/>
              </a:rPr>
              <a:t>, ensuring each group received tailored instruction based on their level of understanding.</a:t>
            </a:r>
          </a:p>
          <a:p>
            <a:r>
              <a:rPr lang="en-US" sz="2100" dirty="0">
                <a:latin typeface="Arial" panose="020B0604020202020204" pitchFamily="34" charset="0"/>
                <a:cs typeface="Arial" panose="020B0604020202020204" pitchFamily="34" charset="0"/>
              </a:rPr>
              <a:t>The sessions were interactive and engaging, combining theoretical learning with hands-on activities. After each teaching session, we conducted oral question-and-answer rounds to encourage active participation and ensure comprehension. The students showed enthusiasm, actively answering questions and demonstrating a keen interest in learning about computers. Their engagement made the sessions enjoyable and meaningful for both the students and our volunteer group</a:t>
            </a:r>
            <a:r>
              <a:rPr lang="en-US" sz="2100" dirty="0" smtClean="0">
                <a:latin typeface="Arial" panose="020B0604020202020204" pitchFamily="34" charset="0"/>
                <a:cs typeface="Arial" panose="020B0604020202020204" pitchFamily="34" charset="0"/>
              </a:rPr>
              <a:t>.</a:t>
            </a:r>
            <a:endParaRPr lang="en-US" sz="2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481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2" y="-76200"/>
            <a:ext cx="10360501" cy="1223963"/>
          </a:xfrm>
        </p:spPr>
        <p:txBody>
          <a:bodyPr>
            <a:normAutofit fontScale="90000"/>
          </a:bodyPr>
          <a:lstStyle/>
          <a:p>
            <a:r>
              <a:rPr lang="en-US" sz="4400" dirty="0">
                <a:latin typeface="Arial" panose="020B0604020202020204" pitchFamily="34" charset="0"/>
                <a:cs typeface="Arial" panose="020B0604020202020204" pitchFamily="34" charset="0"/>
              </a:rPr>
              <a:t>Day-Wise Activities &amp; Learning Experiences</a:t>
            </a:r>
          </a:p>
        </p:txBody>
      </p:sp>
      <p:sp>
        <p:nvSpPr>
          <p:cNvPr id="6" name="Rectangle 5"/>
          <p:cNvSpPr/>
          <p:nvPr/>
        </p:nvSpPr>
        <p:spPr>
          <a:xfrm>
            <a:off x="1218882" y="1297255"/>
            <a:ext cx="9828530" cy="5586145"/>
          </a:xfrm>
          <a:prstGeom prst="rect">
            <a:avLst/>
          </a:prstGeom>
        </p:spPr>
        <p:txBody>
          <a:bodyPr wrap="square">
            <a:spAutoFit/>
          </a:bodyPr>
          <a:lstStyle/>
          <a:p>
            <a:r>
              <a:rPr lang="en-US" sz="2100" b="1" dirty="0">
                <a:solidFill>
                  <a:schemeClr val="accent2"/>
                </a:solidFill>
              </a:rPr>
              <a:t>12/02/2025 Day 1: Teaching basic knowledge of computer to rural student. </a:t>
            </a:r>
            <a:endParaRPr lang="en-US" sz="2100" b="1" dirty="0" smtClean="0">
              <a:solidFill>
                <a:schemeClr val="accent2"/>
              </a:solidFill>
            </a:endParaRPr>
          </a:p>
          <a:p>
            <a:r>
              <a:rPr lang="en-US" sz="2100" dirty="0" smtClean="0"/>
              <a:t>On </a:t>
            </a:r>
            <a:r>
              <a:rPr lang="en-US" sz="2100" dirty="0"/>
              <a:t>the first day, we conduct the session among student from 5th to 6 </a:t>
            </a:r>
            <a:r>
              <a:rPr lang="en-US" sz="2100" dirty="0" err="1"/>
              <a:t>th</a:t>
            </a:r>
            <a:r>
              <a:rPr lang="en-US" sz="2100" dirty="0"/>
              <a:t> class. in which we conduct 2:30 hours session from 12:00 pm to2:30pm with 5th class student and another 2:30 hours conduct in 2:40 pm to 5:00 pm with 6th class student</a:t>
            </a:r>
            <a:r>
              <a:rPr lang="en-US" sz="2100" dirty="0" smtClean="0"/>
              <a:t>.</a:t>
            </a:r>
          </a:p>
          <a:p>
            <a:r>
              <a:rPr lang="en-US" sz="2100" dirty="0" smtClean="0">
                <a:solidFill>
                  <a:schemeClr val="bg2">
                    <a:lumMod val="60000"/>
                    <a:lumOff val="40000"/>
                  </a:schemeClr>
                </a:solidFill>
              </a:rPr>
              <a:t>  </a:t>
            </a:r>
            <a:r>
              <a:rPr lang="en-US" sz="2100" b="1" dirty="0" smtClean="0">
                <a:solidFill>
                  <a:schemeClr val="bg2">
                    <a:lumMod val="60000"/>
                    <a:lumOff val="40000"/>
                  </a:schemeClr>
                </a:solidFill>
              </a:rPr>
              <a:t>In </a:t>
            </a:r>
            <a:r>
              <a:rPr lang="en-US" sz="2100" b="1" dirty="0">
                <a:solidFill>
                  <a:schemeClr val="bg2">
                    <a:lumMod val="60000"/>
                    <a:lumOff val="40000"/>
                  </a:schemeClr>
                </a:solidFill>
              </a:rPr>
              <a:t>that session we cover below Topics: </a:t>
            </a:r>
            <a:endParaRPr lang="en-US" sz="2100" b="1" dirty="0" smtClean="0">
              <a:solidFill>
                <a:schemeClr val="bg2">
                  <a:lumMod val="60000"/>
                  <a:lumOff val="40000"/>
                </a:schemeClr>
              </a:solidFill>
            </a:endParaRPr>
          </a:p>
          <a:p>
            <a:pPr marL="342900" indent="-342900">
              <a:buFont typeface="Arial" panose="020B0604020202020204" pitchFamily="34" charset="0"/>
              <a:buChar char="•"/>
            </a:pPr>
            <a:r>
              <a:rPr lang="en-US" sz="2100" dirty="0" smtClean="0"/>
              <a:t>What </a:t>
            </a:r>
            <a:r>
              <a:rPr lang="en-US" sz="2100" dirty="0"/>
              <a:t>is a computer? Understanding basic components of computer. </a:t>
            </a:r>
            <a:endParaRPr lang="en-US" sz="2100" dirty="0" smtClean="0"/>
          </a:p>
          <a:p>
            <a:pPr marL="342900" indent="-342900">
              <a:buFont typeface="Arial" panose="020B0604020202020204" pitchFamily="34" charset="0"/>
              <a:buChar char="•"/>
            </a:pPr>
            <a:r>
              <a:rPr lang="en-US" sz="2100" dirty="0" smtClean="0"/>
              <a:t>Use </a:t>
            </a:r>
            <a:r>
              <a:rPr lang="en-US" sz="2100" dirty="0"/>
              <a:t>of computer in real world. </a:t>
            </a:r>
            <a:endParaRPr lang="en-US" sz="2100" dirty="0" smtClean="0"/>
          </a:p>
          <a:p>
            <a:pPr marL="342900" indent="-342900">
              <a:buFont typeface="Arial" panose="020B0604020202020204" pitchFamily="34" charset="0"/>
              <a:buChar char="•"/>
            </a:pPr>
            <a:r>
              <a:rPr lang="en-US" sz="2100" dirty="0" smtClean="0"/>
              <a:t>Which </a:t>
            </a:r>
            <a:r>
              <a:rPr lang="en-US" sz="2100" dirty="0"/>
              <a:t>are Input and Output devices computer </a:t>
            </a:r>
            <a:r>
              <a:rPr lang="en-US" sz="2100" dirty="0" err="1"/>
              <a:t>etc</a:t>
            </a:r>
            <a:r>
              <a:rPr lang="en-US" sz="2100" dirty="0"/>
              <a:t> . </a:t>
            </a:r>
            <a:endParaRPr lang="en-US" sz="2100" dirty="0" smtClean="0"/>
          </a:p>
          <a:p>
            <a:pPr marL="342900" indent="-342900">
              <a:buFont typeface="Arial" panose="020B0604020202020204" pitchFamily="34" charset="0"/>
              <a:buChar char="•"/>
            </a:pPr>
            <a:r>
              <a:rPr lang="en-US" sz="2100" dirty="0" smtClean="0"/>
              <a:t>Generation </a:t>
            </a:r>
            <a:r>
              <a:rPr lang="en-US" sz="2100" dirty="0"/>
              <a:t>of computers Hands-on Activity: We give students components of computer to interact with or know the function about the components of computer. </a:t>
            </a:r>
            <a:endParaRPr lang="en-US" sz="2100" dirty="0" smtClean="0"/>
          </a:p>
          <a:p>
            <a:r>
              <a:rPr lang="en-US" sz="2100" b="1" dirty="0" smtClean="0"/>
              <a:t>  </a:t>
            </a:r>
            <a:r>
              <a:rPr lang="en-US" sz="2100" b="1" dirty="0" smtClean="0">
                <a:solidFill>
                  <a:schemeClr val="bg2">
                    <a:lumMod val="60000"/>
                    <a:lumOff val="40000"/>
                  </a:schemeClr>
                </a:solidFill>
              </a:rPr>
              <a:t>Oral </a:t>
            </a:r>
            <a:r>
              <a:rPr lang="en-US" sz="2100" b="1" dirty="0">
                <a:solidFill>
                  <a:schemeClr val="bg2">
                    <a:lumMod val="60000"/>
                    <a:lumOff val="40000"/>
                  </a:schemeClr>
                </a:solidFill>
              </a:rPr>
              <a:t>Question Quiz: </a:t>
            </a:r>
            <a:endParaRPr lang="en-US" sz="2100" b="1" dirty="0" smtClean="0">
              <a:solidFill>
                <a:schemeClr val="bg2">
                  <a:lumMod val="60000"/>
                  <a:lumOff val="40000"/>
                </a:schemeClr>
              </a:solidFill>
            </a:endParaRPr>
          </a:p>
          <a:p>
            <a:pPr marL="457200" indent="-457200">
              <a:buFont typeface="+mj-lt"/>
              <a:buAutoNum type="arabicPeriod"/>
            </a:pPr>
            <a:r>
              <a:rPr lang="en-US" sz="2100" dirty="0" smtClean="0"/>
              <a:t>What </a:t>
            </a:r>
            <a:r>
              <a:rPr lang="en-US" sz="2100" dirty="0"/>
              <a:t>are the types of computers? </a:t>
            </a:r>
            <a:endParaRPr lang="en-US" sz="2100" dirty="0" smtClean="0"/>
          </a:p>
          <a:p>
            <a:pPr marL="457200" indent="-457200">
              <a:buFont typeface="+mj-lt"/>
              <a:buAutoNum type="arabicPeriod"/>
            </a:pPr>
            <a:r>
              <a:rPr lang="en-US" sz="2100" dirty="0" smtClean="0"/>
              <a:t>Who </a:t>
            </a:r>
            <a:r>
              <a:rPr lang="en-US" sz="2100" dirty="0"/>
              <a:t>is known as Father of the Computer? </a:t>
            </a:r>
            <a:endParaRPr lang="en-US" sz="2100" dirty="0" smtClean="0"/>
          </a:p>
          <a:p>
            <a:pPr marL="457200" indent="-457200">
              <a:buFont typeface="+mj-lt"/>
              <a:buAutoNum type="arabicPeriod"/>
            </a:pPr>
            <a:r>
              <a:rPr lang="en-US" sz="2100" dirty="0" smtClean="0"/>
              <a:t>What </a:t>
            </a:r>
            <a:r>
              <a:rPr lang="en-US" sz="2100" dirty="0"/>
              <a:t>is the main function of CPU? </a:t>
            </a:r>
            <a:endParaRPr lang="en-US" sz="2100" dirty="0" smtClean="0"/>
          </a:p>
          <a:p>
            <a:pPr marL="457200" indent="-457200">
              <a:buFont typeface="+mj-lt"/>
              <a:buAutoNum type="arabicPeriod"/>
            </a:pPr>
            <a:r>
              <a:rPr lang="en-US" sz="2100" dirty="0" smtClean="0"/>
              <a:t>Which </a:t>
            </a:r>
            <a:r>
              <a:rPr lang="en-US" sz="2100" dirty="0"/>
              <a:t>key combination is used to copy and paste? </a:t>
            </a:r>
            <a:endParaRPr lang="en-US" sz="2100" dirty="0" smtClean="0"/>
          </a:p>
          <a:p>
            <a:pPr marL="457200" indent="-457200">
              <a:buFont typeface="+mj-lt"/>
              <a:buAutoNum type="arabicPeriod"/>
            </a:pPr>
            <a:r>
              <a:rPr lang="en-US" sz="2100" dirty="0" smtClean="0"/>
              <a:t>Which </a:t>
            </a:r>
            <a:r>
              <a:rPr lang="en-US" sz="2100" dirty="0"/>
              <a:t>device used for moving crosier? The students actively participated, and the quiz helped them recall key concepts. And they also answered right answer. </a:t>
            </a:r>
          </a:p>
        </p:txBody>
      </p:sp>
    </p:spTree>
    <p:extLst>
      <p:ext uri="{BB962C8B-B14F-4D97-AF65-F5344CB8AC3E}">
        <p14:creationId xmlns:p14="http://schemas.microsoft.com/office/powerpoint/2010/main" val="234191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217612" y="228600"/>
            <a:ext cx="9067800" cy="6555641"/>
          </a:xfrm>
          <a:prstGeom prst="rect">
            <a:avLst/>
          </a:prstGeom>
        </p:spPr>
        <p:txBody>
          <a:bodyPr wrap="square">
            <a:spAutoFit/>
          </a:bodyPr>
          <a:lstStyle/>
          <a:p>
            <a:r>
              <a:rPr lang="en-US" sz="2100" b="1" dirty="0">
                <a:solidFill>
                  <a:schemeClr val="accent5"/>
                </a:solidFill>
              </a:rPr>
              <a:t>13/02/2025 Day 2: Teaching basic knowledge of computer to rural student. </a:t>
            </a:r>
            <a:endParaRPr lang="en-US" sz="2100" b="1" dirty="0" smtClean="0">
              <a:solidFill>
                <a:schemeClr val="accent5"/>
              </a:solidFill>
            </a:endParaRPr>
          </a:p>
          <a:p>
            <a:r>
              <a:rPr lang="en-US" sz="2100" dirty="0" smtClean="0"/>
              <a:t>The </a:t>
            </a:r>
            <a:r>
              <a:rPr lang="en-US" sz="2100" dirty="0"/>
              <a:t>second day focused on conducting session for 7th and 8 </a:t>
            </a:r>
            <a:r>
              <a:rPr lang="en-US" sz="2100" dirty="0" err="1"/>
              <a:t>th</a:t>
            </a:r>
            <a:r>
              <a:rPr lang="en-US" sz="2100" dirty="0"/>
              <a:t> class student. This session is also conduct from 12:00 pm to 2:30 pm for 7th class and 2:40 pm to 5:00 pm for 8th class. </a:t>
            </a:r>
            <a:endParaRPr lang="en-US" sz="2100" dirty="0" smtClean="0"/>
          </a:p>
          <a:p>
            <a:r>
              <a:rPr lang="en-US" sz="2100" b="1" dirty="0" smtClean="0">
                <a:solidFill>
                  <a:schemeClr val="bg2">
                    <a:lumMod val="60000"/>
                    <a:lumOff val="40000"/>
                  </a:schemeClr>
                </a:solidFill>
              </a:rPr>
              <a:t>In </a:t>
            </a:r>
            <a:r>
              <a:rPr lang="en-US" sz="2100" b="1" dirty="0">
                <a:solidFill>
                  <a:schemeClr val="bg2">
                    <a:lumMod val="60000"/>
                    <a:lumOff val="40000"/>
                  </a:schemeClr>
                </a:solidFill>
              </a:rPr>
              <a:t>that session we cover below Topics: </a:t>
            </a:r>
            <a:endParaRPr lang="en-US" sz="2100" b="1" dirty="0" smtClean="0">
              <a:solidFill>
                <a:schemeClr val="bg2">
                  <a:lumMod val="60000"/>
                  <a:lumOff val="40000"/>
                </a:schemeClr>
              </a:solidFill>
            </a:endParaRPr>
          </a:p>
          <a:p>
            <a:pPr marL="342900" indent="-342900">
              <a:buFont typeface="Arial" panose="020B0604020202020204" pitchFamily="34" charset="0"/>
              <a:buChar char="•"/>
            </a:pPr>
            <a:r>
              <a:rPr lang="en-US" sz="2100" dirty="0" smtClean="0"/>
              <a:t>Introduction </a:t>
            </a:r>
            <a:r>
              <a:rPr lang="en-US" sz="2100" dirty="0"/>
              <a:t>to computer. </a:t>
            </a:r>
          </a:p>
          <a:p>
            <a:pPr marL="342900" indent="-342900">
              <a:buFont typeface="Arial" panose="020B0604020202020204" pitchFamily="34" charset="0"/>
              <a:buChar char="•"/>
            </a:pPr>
            <a:r>
              <a:rPr lang="en-US" sz="2100" dirty="0" smtClean="0"/>
              <a:t>Types </a:t>
            </a:r>
            <a:r>
              <a:rPr lang="en-US" sz="2100" dirty="0"/>
              <a:t>of computer. </a:t>
            </a:r>
          </a:p>
          <a:p>
            <a:pPr marL="342900" indent="-342900">
              <a:buFont typeface="Arial" panose="020B0604020202020204" pitchFamily="34" charset="0"/>
              <a:buChar char="•"/>
            </a:pPr>
            <a:r>
              <a:rPr lang="en-US" sz="2100" dirty="0" smtClean="0"/>
              <a:t>Operating </a:t>
            </a:r>
            <a:r>
              <a:rPr lang="en-US" sz="2100" dirty="0"/>
              <a:t>system in device’s. </a:t>
            </a:r>
          </a:p>
          <a:p>
            <a:pPr marL="342900" indent="-342900">
              <a:buFont typeface="Arial" panose="020B0604020202020204" pitchFamily="34" charset="0"/>
              <a:buChar char="•"/>
            </a:pPr>
            <a:r>
              <a:rPr lang="en-US" sz="2100" dirty="0" smtClean="0"/>
              <a:t>Computer </a:t>
            </a:r>
            <a:r>
              <a:rPr lang="en-US" sz="2100" dirty="0"/>
              <a:t>maintenance. </a:t>
            </a:r>
            <a:endParaRPr lang="en-US" sz="2100" dirty="0" smtClean="0"/>
          </a:p>
          <a:p>
            <a:r>
              <a:rPr lang="en-US" sz="2100" b="1" dirty="0" smtClean="0">
                <a:solidFill>
                  <a:schemeClr val="bg2">
                    <a:lumMod val="60000"/>
                    <a:lumOff val="40000"/>
                  </a:schemeClr>
                </a:solidFill>
              </a:rPr>
              <a:t>Understanding </a:t>
            </a:r>
            <a:r>
              <a:rPr lang="en-US" sz="2100" b="1" dirty="0">
                <a:solidFill>
                  <a:schemeClr val="bg2">
                    <a:lumMod val="60000"/>
                    <a:lumOff val="40000"/>
                  </a:schemeClr>
                </a:solidFill>
              </a:rPr>
              <a:t>activity: </a:t>
            </a:r>
            <a:endParaRPr lang="en-US" sz="2100" b="1" dirty="0" smtClean="0">
              <a:solidFill>
                <a:schemeClr val="bg2">
                  <a:lumMod val="60000"/>
                  <a:lumOff val="40000"/>
                </a:schemeClr>
              </a:solidFill>
            </a:endParaRPr>
          </a:p>
          <a:p>
            <a:r>
              <a:rPr lang="en-US" sz="2100" dirty="0" smtClean="0"/>
              <a:t>We </a:t>
            </a:r>
            <a:r>
              <a:rPr lang="en-US" sz="2100" dirty="0"/>
              <a:t>conduct a exam from the </a:t>
            </a:r>
            <a:r>
              <a:rPr lang="en-US" sz="2100" dirty="0" err="1"/>
              <a:t>ppt</a:t>
            </a:r>
            <a:r>
              <a:rPr lang="en-US" sz="2100" dirty="0"/>
              <a:t> we teach to students and give marks to the student. The mode of the exam was a written format, requiring students to demonstrate their knowledge and critical thinking through multiple-choice questions. </a:t>
            </a:r>
            <a:endParaRPr lang="en-US" sz="2100" dirty="0" smtClean="0"/>
          </a:p>
          <a:p>
            <a:r>
              <a:rPr lang="en-US" sz="2100" b="1" dirty="0" smtClean="0">
                <a:solidFill>
                  <a:schemeClr val="bg2">
                    <a:lumMod val="60000"/>
                    <a:lumOff val="40000"/>
                  </a:schemeClr>
                </a:solidFill>
              </a:rPr>
              <a:t>Exam </a:t>
            </a:r>
            <a:r>
              <a:rPr lang="en-US" sz="2100" b="1" dirty="0">
                <a:solidFill>
                  <a:schemeClr val="bg2">
                    <a:lumMod val="60000"/>
                    <a:lumOff val="40000"/>
                  </a:schemeClr>
                </a:solidFill>
              </a:rPr>
              <a:t>contain Questions: </a:t>
            </a:r>
            <a:endParaRPr lang="en-US" sz="2100" b="1" dirty="0" smtClean="0">
              <a:solidFill>
                <a:schemeClr val="bg2">
                  <a:lumMod val="60000"/>
                  <a:lumOff val="40000"/>
                </a:schemeClr>
              </a:solidFill>
            </a:endParaRPr>
          </a:p>
          <a:p>
            <a:pPr marL="457200" indent="-457200">
              <a:buAutoNum type="arabicPeriod"/>
            </a:pPr>
            <a:r>
              <a:rPr lang="en-US" sz="2100" dirty="0" smtClean="0"/>
              <a:t>What </a:t>
            </a:r>
            <a:r>
              <a:rPr lang="en-US" sz="2100" dirty="0"/>
              <a:t>does an operating system manage</a:t>
            </a:r>
            <a:r>
              <a:rPr lang="en-US" sz="2100" dirty="0" smtClean="0"/>
              <a:t>? </a:t>
            </a:r>
          </a:p>
          <a:p>
            <a:pPr marL="457200" indent="-457200">
              <a:buAutoNum type="arabicPeriod"/>
            </a:pPr>
            <a:r>
              <a:rPr lang="en-US" sz="2100" dirty="0" smtClean="0"/>
              <a:t>Name </a:t>
            </a:r>
            <a:r>
              <a:rPr lang="en-US" sz="2100" dirty="0"/>
              <a:t>one operating system? </a:t>
            </a:r>
            <a:endParaRPr lang="en-US" sz="2100" dirty="0" smtClean="0"/>
          </a:p>
          <a:p>
            <a:pPr marL="457200" indent="-457200">
              <a:buAutoNum type="arabicPeriod"/>
            </a:pPr>
            <a:r>
              <a:rPr lang="en-US" sz="2100" dirty="0" smtClean="0"/>
              <a:t>What </a:t>
            </a:r>
            <a:r>
              <a:rPr lang="en-US" sz="2100" dirty="0"/>
              <a:t>is first step in a computer basic functions? </a:t>
            </a:r>
            <a:endParaRPr lang="en-US" sz="2100" dirty="0" smtClean="0"/>
          </a:p>
          <a:p>
            <a:pPr marL="457200" indent="-457200">
              <a:buAutoNum type="arabicPeriod"/>
            </a:pPr>
            <a:r>
              <a:rPr lang="en-US" sz="2100" dirty="0" smtClean="0"/>
              <a:t>What </a:t>
            </a:r>
            <a:r>
              <a:rPr lang="en-US" sz="2100" dirty="0"/>
              <a:t>is an operating system work for? The session sparked curiosity among students, and the most of the student answer question correctly. </a:t>
            </a:r>
          </a:p>
        </p:txBody>
      </p:sp>
    </p:spTree>
    <p:extLst>
      <p:ext uri="{BB962C8B-B14F-4D97-AF65-F5344CB8AC3E}">
        <p14:creationId xmlns:p14="http://schemas.microsoft.com/office/powerpoint/2010/main" val="41231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0" y="-3634472"/>
            <a:ext cx="6092825" cy="2970044"/>
          </a:xfrm>
          <a:prstGeom prst="rect">
            <a:avLst/>
          </a:prstGeom>
        </p:spPr>
        <p:txBody>
          <a:bodyPr>
            <a:spAutoFit/>
          </a:bodyPr>
          <a:lstStyle/>
          <a:p>
            <a:r>
              <a:rPr lang="en-US" sz="1100" dirty="0"/>
              <a:t>14/02/2025 Day 3: Teaching basic knowledge of computer to rural student. On the final day, we educated students of 9th class so basically we conduct this session in four class of 9th </a:t>
            </a:r>
            <a:r>
              <a:rPr lang="en-US" sz="1100" dirty="0" err="1"/>
              <a:t>std</a:t>
            </a:r>
            <a:r>
              <a:rPr lang="en-US" sz="1100" dirty="0"/>
              <a:t> for 1:25 hours for each classroom. In that session we cover below Topics • Parts Of computer. • Generation about computers. • Basic knowledge about computer hardware and software. • Basic function of computer. • Carrier guidance about computer science filed. Understanding activity: We conduct a exam from the </a:t>
            </a:r>
            <a:r>
              <a:rPr lang="en-US" sz="1100" dirty="0" err="1"/>
              <a:t>ppt</a:t>
            </a:r>
            <a:r>
              <a:rPr lang="en-US" sz="1100" dirty="0"/>
              <a:t> we teach to students and give marks to the student The mode of the exam was a written format, requiring students to demonstrate their knowledge and critical thinking through multiple-choice questions. Exam contain Questions: 1. What is use of computer? 2. Name one common software name use in day to day life? 3. How to maintain computer? 4. What is purposes of antivirus software? 5. Which are input and output of devices of computer? The final day helped students to get full knowledge of computer working, making them more efficient digital users. Outcomes &amp; Impact The three-day program had a significant impact on students, helping them: • Understand basic computer operations and their importance. • Know about the how computer components are work. • Know the use meaning of software and hardware and its applications. • How to handle computer with efficiently and how they can reduce their efforts in study , problem solving using computer. For the volunteers, it was a valuable learning experience, enhancing our teaching, communication, and leadership skills while contributing to digital literacy in the community. </a:t>
            </a:r>
          </a:p>
        </p:txBody>
      </p:sp>
      <p:sp>
        <p:nvSpPr>
          <p:cNvPr id="6" name="Rectangle 5"/>
          <p:cNvSpPr/>
          <p:nvPr/>
        </p:nvSpPr>
        <p:spPr>
          <a:xfrm>
            <a:off x="1141412" y="76200"/>
            <a:ext cx="10744200" cy="6878806"/>
          </a:xfrm>
          <a:prstGeom prst="rect">
            <a:avLst/>
          </a:prstGeom>
        </p:spPr>
        <p:txBody>
          <a:bodyPr wrap="square">
            <a:spAutoFit/>
          </a:bodyPr>
          <a:lstStyle/>
          <a:p>
            <a:r>
              <a:rPr lang="en-US" sz="2100" b="1" dirty="0">
                <a:solidFill>
                  <a:schemeClr val="accent5"/>
                </a:solidFill>
              </a:rPr>
              <a:t>14/02/2025 Day 3: Teaching basic knowledge of computer to rural student. </a:t>
            </a:r>
            <a:endParaRPr lang="en-US" sz="2100" b="1" dirty="0" smtClean="0">
              <a:solidFill>
                <a:schemeClr val="accent5"/>
              </a:solidFill>
            </a:endParaRPr>
          </a:p>
          <a:p>
            <a:r>
              <a:rPr lang="en-US" sz="2100" dirty="0" smtClean="0"/>
              <a:t>On </a:t>
            </a:r>
            <a:r>
              <a:rPr lang="en-US" sz="2100" dirty="0"/>
              <a:t>the final day, we educated students of 9th class so basically we conduct this session in four class of 9th </a:t>
            </a:r>
            <a:r>
              <a:rPr lang="en-US" sz="2100" dirty="0" err="1"/>
              <a:t>std</a:t>
            </a:r>
            <a:r>
              <a:rPr lang="en-US" sz="2100" dirty="0"/>
              <a:t> for 1:25 hours for each classroom. </a:t>
            </a:r>
            <a:endParaRPr lang="en-US" sz="2100" dirty="0" smtClean="0"/>
          </a:p>
          <a:p>
            <a:r>
              <a:rPr lang="en-US" sz="2100" dirty="0" smtClean="0"/>
              <a:t>In </a:t>
            </a:r>
            <a:r>
              <a:rPr lang="en-US" sz="2100" dirty="0"/>
              <a:t>that session we cover below Topics </a:t>
            </a:r>
          </a:p>
          <a:p>
            <a:r>
              <a:rPr lang="en-US" sz="2100" b="1" dirty="0" smtClean="0">
                <a:solidFill>
                  <a:schemeClr val="bg2">
                    <a:lumMod val="60000"/>
                    <a:lumOff val="40000"/>
                  </a:schemeClr>
                </a:solidFill>
              </a:rPr>
              <a:t>Parts </a:t>
            </a:r>
            <a:r>
              <a:rPr lang="en-US" sz="2100" b="1" dirty="0">
                <a:solidFill>
                  <a:schemeClr val="bg2">
                    <a:lumMod val="60000"/>
                    <a:lumOff val="40000"/>
                  </a:schemeClr>
                </a:solidFill>
              </a:rPr>
              <a:t>Of computer. </a:t>
            </a:r>
          </a:p>
          <a:p>
            <a:pPr marL="285750" indent="-285750">
              <a:buFont typeface="Arial" panose="020B0604020202020204" pitchFamily="34" charset="0"/>
              <a:buChar char="•"/>
            </a:pPr>
            <a:r>
              <a:rPr lang="en-US" sz="2100" dirty="0" smtClean="0"/>
              <a:t>Generation </a:t>
            </a:r>
            <a:r>
              <a:rPr lang="en-US" sz="2100" dirty="0"/>
              <a:t>about computers. </a:t>
            </a:r>
          </a:p>
          <a:p>
            <a:pPr marL="285750" indent="-285750">
              <a:buFont typeface="Arial" panose="020B0604020202020204" pitchFamily="34" charset="0"/>
              <a:buChar char="•"/>
            </a:pPr>
            <a:r>
              <a:rPr lang="en-US" sz="2100" dirty="0" smtClean="0"/>
              <a:t>Basic </a:t>
            </a:r>
            <a:r>
              <a:rPr lang="en-US" sz="2100" dirty="0"/>
              <a:t>knowledge about computer hardware and software. </a:t>
            </a:r>
          </a:p>
          <a:p>
            <a:pPr marL="285750" indent="-285750">
              <a:buFont typeface="Arial" panose="020B0604020202020204" pitchFamily="34" charset="0"/>
              <a:buChar char="•"/>
            </a:pPr>
            <a:r>
              <a:rPr lang="en-US" sz="2100" dirty="0" smtClean="0"/>
              <a:t>Basic </a:t>
            </a:r>
            <a:r>
              <a:rPr lang="en-US" sz="2100" dirty="0"/>
              <a:t>function of computer. </a:t>
            </a:r>
          </a:p>
          <a:p>
            <a:pPr marL="285750" indent="-285750">
              <a:buFont typeface="Arial" panose="020B0604020202020204" pitchFamily="34" charset="0"/>
              <a:buChar char="•"/>
            </a:pPr>
            <a:r>
              <a:rPr lang="en-US" sz="2100" dirty="0" smtClean="0"/>
              <a:t>Carrier </a:t>
            </a:r>
            <a:r>
              <a:rPr lang="en-US" sz="2100" dirty="0"/>
              <a:t>guidance about computer science filed. </a:t>
            </a:r>
            <a:endParaRPr lang="en-US" sz="2100" dirty="0" smtClean="0"/>
          </a:p>
          <a:p>
            <a:r>
              <a:rPr lang="en-US" sz="2100" b="1" dirty="0" smtClean="0">
                <a:solidFill>
                  <a:schemeClr val="bg2">
                    <a:lumMod val="60000"/>
                    <a:lumOff val="40000"/>
                  </a:schemeClr>
                </a:solidFill>
              </a:rPr>
              <a:t>Understanding </a:t>
            </a:r>
            <a:r>
              <a:rPr lang="en-US" sz="2100" b="1" dirty="0">
                <a:solidFill>
                  <a:schemeClr val="bg2">
                    <a:lumMod val="60000"/>
                    <a:lumOff val="40000"/>
                  </a:schemeClr>
                </a:solidFill>
              </a:rPr>
              <a:t>activity: </a:t>
            </a:r>
            <a:endParaRPr lang="en-US" sz="2100" b="1" dirty="0" smtClean="0">
              <a:solidFill>
                <a:schemeClr val="bg2">
                  <a:lumMod val="60000"/>
                  <a:lumOff val="40000"/>
                </a:schemeClr>
              </a:solidFill>
            </a:endParaRPr>
          </a:p>
          <a:p>
            <a:r>
              <a:rPr lang="en-US" sz="2100" dirty="0" smtClean="0"/>
              <a:t>We </a:t>
            </a:r>
            <a:r>
              <a:rPr lang="en-US" sz="2100" dirty="0"/>
              <a:t>conduct a exam from the </a:t>
            </a:r>
            <a:r>
              <a:rPr lang="en-US" sz="2100" dirty="0" err="1"/>
              <a:t>ppt</a:t>
            </a:r>
            <a:r>
              <a:rPr lang="en-US" sz="2100" dirty="0"/>
              <a:t> we teach to students and give marks to the student The mode of the exam was a written format, requiring students to demonstrate their knowledge and critical thinking through multiple-choice questions. </a:t>
            </a:r>
            <a:endParaRPr lang="en-US" sz="2100" dirty="0" smtClean="0"/>
          </a:p>
          <a:p>
            <a:r>
              <a:rPr lang="en-US" sz="2100" b="1" dirty="0" smtClean="0">
                <a:solidFill>
                  <a:schemeClr val="bg2">
                    <a:lumMod val="60000"/>
                    <a:lumOff val="40000"/>
                  </a:schemeClr>
                </a:solidFill>
              </a:rPr>
              <a:t>Exam </a:t>
            </a:r>
            <a:r>
              <a:rPr lang="en-US" sz="2100" b="1" dirty="0">
                <a:solidFill>
                  <a:schemeClr val="bg2">
                    <a:lumMod val="60000"/>
                    <a:lumOff val="40000"/>
                  </a:schemeClr>
                </a:solidFill>
              </a:rPr>
              <a:t>contain Questions: </a:t>
            </a:r>
            <a:endParaRPr lang="en-US" sz="2100" b="1" dirty="0" smtClean="0">
              <a:solidFill>
                <a:schemeClr val="bg2">
                  <a:lumMod val="60000"/>
                  <a:lumOff val="40000"/>
                </a:schemeClr>
              </a:solidFill>
            </a:endParaRPr>
          </a:p>
          <a:p>
            <a:pPr marL="342900" indent="-342900">
              <a:buAutoNum type="arabicPeriod"/>
            </a:pPr>
            <a:r>
              <a:rPr lang="en-US" sz="2100" dirty="0" smtClean="0"/>
              <a:t>What </a:t>
            </a:r>
            <a:r>
              <a:rPr lang="en-US" sz="2100" dirty="0"/>
              <a:t>is use of computer? </a:t>
            </a:r>
            <a:endParaRPr lang="en-US" sz="2100" dirty="0" smtClean="0"/>
          </a:p>
          <a:p>
            <a:pPr marL="342900" indent="-342900">
              <a:buAutoNum type="arabicPeriod"/>
            </a:pPr>
            <a:r>
              <a:rPr lang="en-US" sz="2100" dirty="0" smtClean="0"/>
              <a:t>Name </a:t>
            </a:r>
            <a:r>
              <a:rPr lang="en-US" sz="2100" dirty="0"/>
              <a:t>one common software name use in day to day life? </a:t>
            </a:r>
            <a:endParaRPr lang="en-US" sz="2100" dirty="0" smtClean="0"/>
          </a:p>
          <a:p>
            <a:pPr marL="342900" indent="-342900">
              <a:buAutoNum type="arabicPeriod"/>
            </a:pPr>
            <a:r>
              <a:rPr lang="en-US" sz="2100" dirty="0" smtClean="0"/>
              <a:t>How </a:t>
            </a:r>
            <a:r>
              <a:rPr lang="en-US" sz="2100" dirty="0"/>
              <a:t>to maintain computer? </a:t>
            </a:r>
            <a:endParaRPr lang="en-US" sz="2100" dirty="0" smtClean="0"/>
          </a:p>
          <a:p>
            <a:pPr marL="342900" indent="-342900">
              <a:buAutoNum type="arabicPeriod"/>
            </a:pPr>
            <a:r>
              <a:rPr lang="en-US" sz="2100" dirty="0" smtClean="0"/>
              <a:t>What </a:t>
            </a:r>
            <a:r>
              <a:rPr lang="en-US" sz="2100" dirty="0"/>
              <a:t>is purposes of antivirus software? </a:t>
            </a:r>
            <a:endParaRPr lang="en-US" sz="2100" dirty="0" smtClean="0"/>
          </a:p>
          <a:p>
            <a:pPr marL="342900" indent="-342900">
              <a:buAutoNum type="arabicPeriod"/>
            </a:pPr>
            <a:r>
              <a:rPr lang="en-US" sz="2100" dirty="0" smtClean="0"/>
              <a:t>Which </a:t>
            </a:r>
            <a:r>
              <a:rPr lang="en-US" sz="2100" dirty="0"/>
              <a:t>are input and output of devices of </a:t>
            </a:r>
            <a:r>
              <a:rPr lang="en-US" sz="2100" dirty="0" smtClean="0"/>
              <a:t>computer?</a:t>
            </a:r>
          </a:p>
          <a:p>
            <a:r>
              <a:rPr lang="en-US" sz="2100" dirty="0" smtClean="0"/>
              <a:t>The </a:t>
            </a:r>
            <a:r>
              <a:rPr lang="en-US" sz="2100" dirty="0"/>
              <a:t>final day helped students to get full knowledge of computer working, making them more efficient digital users. </a:t>
            </a:r>
            <a:endParaRPr lang="en-US" sz="2100" dirty="0" smtClean="0"/>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01633" y="342370"/>
            <a:ext cx="10360501" cy="1223963"/>
          </a:xfrm>
        </p:spPr>
        <p:txBody>
          <a:bodyPr>
            <a:normAutofit/>
          </a:bodyPr>
          <a:lstStyle/>
          <a:p>
            <a:r>
              <a:rPr lang="en-US" sz="4400" b="1" dirty="0">
                <a:latin typeface="Arial" panose="020B0604020202020204" pitchFamily="34" charset="0"/>
                <a:cs typeface="Arial" panose="020B0604020202020204" pitchFamily="34" charset="0"/>
              </a:rPr>
              <a:t>Objectives</a:t>
            </a:r>
            <a:r>
              <a:rPr lang="en-US" sz="4400" b="1" dirty="0"/>
              <a:t> </a:t>
            </a:r>
          </a:p>
        </p:txBody>
      </p:sp>
      <p:sp>
        <p:nvSpPr>
          <p:cNvPr id="2" name="Rectangle 1"/>
          <p:cNvSpPr/>
          <p:nvPr/>
        </p:nvSpPr>
        <p:spPr>
          <a:xfrm>
            <a:off x="1370012" y="1905506"/>
            <a:ext cx="8991600" cy="4524315"/>
          </a:xfrm>
          <a:prstGeom prst="rect">
            <a:avLst/>
          </a:prstGeom>
        </p:spPr>
        <p:txBody>
          <a:bodyPr wrap="square">
            <a:spAutoFit/>
          </a:bodyPr>
          <a:lstStyle/>
          <a:p>
            <a:pPr marL="457200" indent="-457200">
              <a:buFont typeface="Arial" panose="020B0604020202020204" pitchFamily="34" charset="0"/>
              <a:buChar char="•"/>
            </a:pPr>
            <a:r>
              <a:rPr lang="en-US" sz="3200" dirty="0" smtClean="0"/>
              <a:t>Introduce </a:t>
            </a:r>
            <a:r>
              <a:rPr lang="en-US" sz="3200" dirty="0"/>
              <a:t>students to basic computer operations and applications. </a:t>
            </a:r>
            <a:endParaRPr lang="en-US" sz="3200" dirty="0" smtClean="0"/>
          </a:p>
          <a:p>
            <a:pPr marL="457200" indent="-457200">
              <a:buFont typeface="Arial" panose="020B0604020202020204" pitchFamily="34" charset="0"/>
              <a:buChar char="•"/>
            </a:pPr>
            <a:r>
              <a:rPr lang="en-US" sz="3200" dirty="0" smtClean="0"/>
              <a:t>Explain </a:t>
            </a:r>
            <a:r>
              <a:rPr lang="en-US" sz="3200" dirty="0"/>
              <a:t>Basic components of computer. </a:t>
            </a:r>
            <a:endParaRPr lang="en-US" sz="3200" dirty="0" smtClean="0"/>
          </a:p>
          <a:p>
            <a:pPr marL="457200" indent="-457200">
              <a:buFont typeface="Arial" panose="020B0604020202020204" pitchFamily="34" charset="0"/>
              <a:buChar char="•"/>
            </a:pPr>
            <a:r>
              <a:rPr lang="en-US" sz="3200" dirty="0" smtClean="0"/>
              <a:t>Educate </a:t>
            </a:r>
            <a:r>
              <a:rPr lang="en-US" sz="3200" dirty="0"/>
              <a:t>students on software and hardware of computer. </a:t>
            </a:r>
            <a:endParaRPr lang="en-US" sz="3200" dirty="0" smtClean="0"/>
          </a:p>
          <a:p>
            <a:pPr marL="457200" indent="-457200">
              <a:buFont typeface="Arial" panose="020B0604020202020204" pitchFamily="34" charset="0"/>
              <a:buChar char="•"/>
            </a:pPr>
            <a:r>
              <a:rPr lang="en-US" sz="3200" dirty="0" smtClean="0"/>
              <a:t>Make </a:t>
            </a:r>
            <a:r>
              <a:rPr lang="en-US" sz="3200" dirty="0"/>
              <a:t>learning engaging through hands-on activities, discussions, and quizzes. </a:t>
            </a:r>
            <a:endParaRPr lang="en-US" sz="3200" dirty="0" smtClean="0"/>
          </a:p>
          <a:p>
            <a:pPr marL="457200" indent="-457200">
              <a:buFont typeface="Arial" panose="020B0604020202020204" pitchFamily="34" charset="0"/>
              <a:buChar char="•"/>
            </a:pPr>
            <a:r>
              <a:rPr lang="en-US" sz="3200" dirty="0" smtClean="0"/>
              <a:t>Develop </a:t>
            </a:r>
            <a:r>
              <a:rPr lang="en-US" sz="3200" dirty="0"/>
              <a:t>students' curiosity, problem-solving skills, and digital awareness.</a:t>
            </a:r>
          </a:p>
        </p:txBody>
      </p:sp>
    </p:spTree>
    <p:extLst>
      <p:ext uri="{BB962C8B-B14F-4D97-AF65-F5344CB8AC3E}">
        <p14:creationId xmlns:p14="http://schemas.microsoft.com/office/powerpoint/2010/main" val="267203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400" b="1" dirty="0">
                <a:latin typeface="Arial" panose="020B0604020202020204" pitchFamily="34" charset="0"/>
                <a:cs typeface="Arial" panose="020B0604020202020204" pitchFamily="34" charset="0"/>
              </a:rPr>
              <a:t>Outcomes</a:t>
            </a:r>
          </a:p>
        </p:txBody>
      </p:sp>
      <p:sp>
        <p:nvSpPr>
          <p:cNvPr id="2" name="Rectangle 1"/>
          <p:cNvSpPr/>
          <p:nvPr/>
        </p:nvSpPr>
        <p:spPr>
          <a:xfrm>
            <a:off x="1293812" y="1498600"/>
            <a:ext cx="9829800" cy="5262979"/>
          </a:xfrm>
          <a:prstGeom prst="rect">
            <a:avLst/>
          </a:prstGeom>
        </p:spPr>
        <p:txBody>
          <a:bodyPr wrap="square">
            <a:spAutoFit/>
          </a:bodyPr>
          <a:lstStyle/>
          <a:p>
            <a:r>
              <a:rPr lang="en-US" sz="2800" dirty="0"/>
              <a:t>The three-day program had a significant impact on students, helping them: </a:t>
            </a:r>
          </a:p>
          <a:p>
            <a:pPr marL="457200" indent="-457200">
              <a:buFont typeface="Arial" panose="020B0604020202020204" pitchFamily="34" charset="0"/>
              <a:buChar char="•"/>
            </a:pPr>
            <a:r>
              <a:rPr lang="en-US" sz="2800" dirty="0" smtClean="0"/>
              <a:t>Understand </a:t>
            </a:r>
            <a:r>
              <a:rPr lang="en-US" sz="2800" dirty="0"/>
              <a:t>basic computer operations and their </a:t>
            </a:r>
            <a:r>
              <a:rPr lang="en-US" sz="2800" dirty="0" smtClean="0"/>
              <a:t>importance. </a:t>
            </a:r>
          </a:p>
          <a:p>
            <a:pPr marL="457200" indent="-457200">
              <a:buFont typeface="Arial" panose="020B0604020202020204" pitchFamily="34" charset="0"/>
              <a:buChar char="•"/>
            </a:pPr>
            <a:r>
              <a:rPr lang="en-US" sz="2800" dirty="0" smtClean="0"/>
              <a:t>Know </a:t>
            </a:r>
            <a:r>
              <a:rPr lang="en-US" sz="2800" dirty="0"/>
              <a:t>about the how computer components are work. </a:t>
            </a:r>
          </a:p>
          <a:p>
            <a:pPr marL="457200" indent="-457200">
              <a:buFont typeface="Arial" panose="020B0604020202020204" pitchFamily="34" charset="0"/>
              <a:buChar char="•"/>
            </a:pPr>
            <a:r>
              <a:rPr lang="en-US" sz="2800" dirty="0" smtClean="0"/>
              <a:t>Know </a:t>
            </a:r>
            <a:r>
              <a:rPr lang="en-US" sz="2800" dirty="0"/>
              <a:t>the use meaning of software and hardware and its applications. </a:t>
            </a:r>
            <a:r>
              <a:rPr lang="en-US" sz="2800" dirty="0" smtClean="0"/>
              <a:t> </a:t>
            </a:r>
          </a:p>
          <a:p>
            <a:pPr marL="457200" indent="-457200">
              <a:buFont typeface="Arial" panose="020B0604020202020204" pitchFamily="34" charset="0"/>
              <a:buChar char="•"/>
            </a:pPr>
            <a:r>
              <a:rPr lang="en-US" sz="2800" dirty="0" smtClean="0"/>
              <a:t>How </a:t>
            </a:r>
            <a:r>
              <a:rPr lang="en-US" sz="2800" dirty="0"/>
              <a:t>to handle computer with efficiently and how they can reduce their efforts in study , problem solving using computer. </a:t>
            </a:r>
            <a:endParaRPr lang="en-US" sz="2800" dirty="0" smtClean="0"/>
          </a:p>
          <a:p>
            <a:endParaRPr lang="en-US" sz="2800" dirty="0" smtClean="0"/>
          </a:p>
          <a:p>
            <a:r>
              <a:rPr lang="en-US" sz="2800" dirty="0" smtClean="0"/>
              <a:t>For </a:t>
            </a:r>
            <a:r>
              <a:rPr lang="en-US" sz="2800" dirty="0"/>
              <a:t>the volunteers, it was a valuable learning experience, enhancing our teaching, communication, and leadership skills while contributing to digital literacy in the community</a:t>
            </a: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8212" y="-79922"/>
            <a:ext cx="8077200" cy="769441"/>
          </a:xfrm>
          <a:prstGeom prst="rect">
            <a:avLst/>
          </a:prstGeom>
          <a:noFill/>
        </p:spPr>
        <p:txBody>
          <a:bodyPr wrap="square" rtlCol="0">
            <a:spAutoFit/>
          </a:bodyPr>
          <a:lstStyle/>
          <a:p>
            <a:pPr algn="ctr"/>
            <a:r>
              <a:rPr lang="en-US" sz="4400" b="1" dirty="0" smtClean="0">
                <a:latin typeface="Arial" panose="020B0604020202020204" pitchFamily="34" charset="0"/>
                <a:cs typeface="Arial" panose="020B0604020202020204" pitchFamily="34" charset="0"/>
              </a:rPr>
              <a:t>Letters</a:t>
            </a:r>
            <a:endParaRPr lang="en-US" sz="4400" b="1"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9212" y="689520"/>
            <a:ext cx="5598020" cy="6036733"/>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2812" y="689519"/>
            <a:ext cx="5334000" cy="6036733"/>
          </a:xfrm>
          <a:prstGeom prst="rect">
            <a:avLst/>
          </a:prstGeom>
        </p:spPr>
      </p:pic>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5812" y="2743200"/>
            <a:ext cx="8382000" cy="1015663"/>
          </a:xfrm>
          <a:prstGeom prst="rect">
            <a:avLst/>
          </a:prstGeom>
          <a:noFill/>
        </p:spPr>
        <p:txBody>
          <a:bodyPr wrap="square" rtlCol="0">
            <a:spAutoFit/>
          </a:bodyPr>
          <a:lstStyle/>
          <a:p>
            <a:pPr algn="ctr"/>
            <a:r>
              <a:rPr lang="en-US" sz="6000" b="1" dirty="0" smtClean="0">
                <a:latin typeface="Arial Black" panose="020B0A04020102020204" pitchFamily="34" charset="0"/>
              </a:rPr>
              <a:t>Thank You</a:t>
            </a:r>
            <a:endParaRPr lang="en-US" sz="6000" b="1" dirty="0">
              <a:latin typeface="Arial Black" panose="020B0A04020102020204" pitchFamily="34" charset="0"/>
            </a:endParaRPr>
          </a:p>
        </p:txBody>
      </p:sp>
    </p:spTree>
    <p:extLst>
      <p:ext uri="{BB962C8B-B14F-4D97-AF65-F5344CB8AC3E}">
        <p14:creationId xmlns:p14="http://schemas.microsoft.com/office/powerpoint/2010/main" val="348033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xmlns=""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60C67BEE-D13F-4BD2-98A5-34D8A0977F68}">
  <ds:schemaRefs>
    <ds:schemaRef ds:uri="http://purl.org/dc/dcmitype/"/>
    <ds:schemaRef ds:uri="4873beb7-5857-4685-be1f-d57550cc96cc"/>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121</TotalTime>
  <Words>1156</Words>
  <Application>Microsoft Office PowerPoint</Application>
  <PresentationFormat>Custom</PresentationFormat>
  <Paragraphs>67</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Tech 16x9</vt:lpstr>
      <vt:lpstr>Empowering Rural Students with Basic Computer Knowledge: A Community Engagement Initiative at Waje High School</vt:lpstr>
      <vt:lpstr>Introduction</vt:lpstr>
      <vt:lpstr>Day-Wise Activities &amp; Learning Experiences</vt:lpstr>
      <vt:lpstr>PowerPoint Presentation</vt:lpstr>
      <vt:lpstr>PowerPoint Presentation</vt:lpstr>
      <vt:lpstr>Objectives </vt:lpstr>
      <vt:lpstr>Outcomes</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Empowering Rural Students with Basic Computer Knowledge:  A Community Engagement Initiative at Waje High School</dc:title>
  <dc:creator>HP</dc:creator>
  <cp:lastModifiedBy>admin</cp:lastModifiedBy>
  <cp:revision>11</cp:revision>
  <dcterms:created xsi:type="dcterms:W3CDTF">2025-03-12T14:16:03Z</dcterms:created>
  <dcterms:modified xsi:type="dcterms:W3CDTF">2026-04-14T16:02:22Z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